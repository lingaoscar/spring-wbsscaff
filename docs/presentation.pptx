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331720"/>
            <a:ext cx="1182319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WBS 管理系統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EA5E9"/>
                </a:solidFill>
              </a:rPr>
              <a:t>讓專案任務不再散落各處  一個平台，從分工到交付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37560"/>
            <a:ext cx="1764792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Java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2032" y="3337560"/>
            <a:ext cx="3154680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333756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Spring Boot 3.4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33872" y="3337560"/>
            <a:ext cx="1417319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33872" y="3337560"/>
            <a:ext cx="14173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Vue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88351" y="3337560"/>
            <a:ext cx="2980944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1" y="3337560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WebSocket 即時協作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06455" y="3337560"/>
            <a:ext cx="2286000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06455" y="3337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企業後台  ·  多人即時協作  ·  角色權限管理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您是否也遇到這些問題？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2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94760" cy="2103120"/>
          </a:xfrm>
          <a:prstGeom prst="rect">
            <a:avLst/>
          </a:prstGeom>
          <a:solidFill>
            <a:srgbClr val="3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94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📋  Excel 版本地獄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N 個同事手上有 N 個不同版本，不知道哪一份才是最新的。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188720"/>
            <a:ext cx="3794760" cy="2103120"/>
          </a:xfrm>
          <a:prstGeom prst="rect">
            <a:avLst/>
          </a:prstGeom>
          <a:solidFill>
            <a:srgbClr val="3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188720"/>
            <a:ext cx="3794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39" y="13533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🔁  反覆開會確認進度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1874520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主管不知道哪個項目卡住了，只能排會議問人，浪費大量時間。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19" y="1188720"/>
            <a:ext cx="3794760" cy="2103120"/>
          </a:xfrm>
          <a:prstGeom prst="rect">
            <a:avLst/>
          </a:prstGeom>
          <a:solidFill>
            <a:srgbClr val="3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19" y="1188720"/>
            <a:ext cx="3794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9" y="13533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👤  責任歸屬模糊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1874520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任務沒有明確負責人，截止日到了才發現沒有人在做。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520439"/>
            <a:ext cx="3794760" cy="2103120"/>
          </a:xfrm>
          <a:prstGeom prst="rect">
            <a:avLst/>
          </a:prstGeom>
          <a:solidFill>
            <a:srgbClr val="3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520439"/>
            <a:ext cx="3794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85031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📂  上線前文件倉促補齊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06239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SIT/UAT/PROD 各階段文件沒有固定規格，每次上線都要重新想一遍。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3520439"/>
            <a:ext cx="3794760" cy="2103120"/>
          </a:xfrm>
          <a:prstGeom prst="rect">
            <a:avLst/>
          </a:prstGeom>
          <a:solidFill>
            <a:srgbClr val="3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3520439"/>
            <a:ext cx="3794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39" y="3685031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🔒  跨科資料外洩風險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39" y="4206239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同一份試算表，不該看的人也能看到所有科別的專案資訊。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WBS 管理系統  ─  這樣解決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3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349240" cy="530352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1097280"/>
            <a:ext cx="5349240" cy="5303520"/>
          </a:xfrm>
          <a:prstGeom prst="rect">
            <a:avLst/>
          </a:prstGeom>
          <a:solidFill>
            <a:srgbClr val="0A2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</a:rPr>
              <a:t>😓  現況痛點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09728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C55E"/>
                </a:solidFill>
              </a:rPr>
              <a:t>✅  導入後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383280"/>
            <a:ext cx="1051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074920" cy="685800"/>
          </a:xfrm>
          <a:prstGeom prst="rect">
            <a:avLst/>
          </a:prstGeom>
          <a:solidFill>
            <a:srgbClr val="3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0136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CA5A5"/>
                </a:solidFill>
              </a:rPr>
              <a:t>Excel 多版本並存，不知以誰為準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691640"/>
            <a:ext cx="5074920" cy="685800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80136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</a:rPr>
              <a:t>單一平台集中管理，即時同步所有異動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96312"/>
            <a:ext cx="5074920" cy="685800"/>
          </a:xfrm>
          <a:prstGeom prst="rect">
            <a:avLst/>
          </a:prstGeom>
          <a:solidFill>
            <a:srgbClr val="3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0604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CA5A5"/>
                </a:solidFill>
              </a:rPr>
              <a:t>進度靠開會問，資訊嚴重落後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496312"/>
            <a:ext cx="5074920" cy="685800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60604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</a:rPr>
              <a:t>WBS 節點標示狀態與負責人，主管秒懂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00984"/>
            <a:ext cx="5074920" cy="685800"/>
          </a:xfrm>
          <a:prstGeom prst="rect">
            <a:avLst/>
          </a:prstGeom>
          <a:solidFill>
            <a:srgbClr val="3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410712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CA5A5"/>
                </a:solidFill>
              </a:rPr>
              <a:t>任務無負責人，截止日到才發現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3300984"/>
            <a:ext cx="5074920" cy="685800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410712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</a:rPr>
              <a:t>每個 L3 任務綁定負責人 + 截止日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05656"/>
            <a:ext cx="5074920" cy="685800"/>
          </a:xfrm>
          <a:prstGeom prst="rect">
            <a:avLst/>
          </a:prstGeom>
          <a:solidFill>
            <a:srgbClr val="3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15384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CA5A5"/>
                </a:solidFill>
              </a:rPr>
              <a:t>上線文件每次重頭想，格式不統一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105656"/>
            <a:ext cx="5074920" cy="685800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4215384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</a:rPr>
              <a:t>套用模板一鍵產生 SIT/UAT/PROD 架構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10328"/>
            <a:ext cx="5074920" cy="685800"/>
          </a:xfrm>
          <a:prstGeom prst="rect">
            <a:avLst/>
          </a:prstGeom>
          <a:solidFill>
            <a:srgbClr val="3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020056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CA5A5"/>
                </a:solidFill>
              </a:rPr>
              <a:t>試算表無權限控管，資料外洩風險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910328"/>
            <a:ext cx="5074920" cy="685800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5020056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</a:rPr>
              <a:t>角色與部門隔離，跨科資料看不到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適用場景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9F9"/>
                </a:solidFill>
              </a:rPr>
              <a:t>適合任何有 SIT → UAT → PROD 發布流程的 IT 團隊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94760" cy="2377440"/>
          </a:xfrm>
          <a:prstGeom prst="rect">
            <a:avLst/>
          </a:prstGeom>
          <a:solidFill>
            <a:srgbClr val="1E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3794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💡  新功能開發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83664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</a:rPr>
              <a:t>從需求討論、功能設計、程式開發到三環境上線，全程追蹤。
套用「功能新增」模板，30 秒建好完整 WBS。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188720"/>
            <a:ext cx="3794760" cy="2377440"/>
          </a:xfrm>
          <a:prstGeom prst="rect">
            <a:avLst/>
          </a:prstGeom>
          <a:solidFill>
            <a:srgbClr val="1E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188720"/>
            <a:ext cx="3794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39" y="135331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🚀  全新系統建置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9" y="1883664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</a:rPr>
              <a:t>系統設計、資料庫建置、環境申請一次展開。
套用「專案開發」模板，56 個節點預設到位。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9" y="1188720"/>
            <a:ext cx="3794760" cy="2377440"/>
          </a:xfrm>
          <a:prstGeom prst="rect">
            <a:avLst/>
          </a:prstGeom>
          <a:solidFill>
            <a:srgbClr val="1E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19" y="1188720"/>
            <a:ext cx="3794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9" y="135331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📦  系統下線（EOS）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1883664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</a:rPr>
              <a:t>資料備份、影響分析、主機拆除流程標準化。
套用「EOS 系統下線」模板，避免漏項。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49039"/>
            <a:ext cx="3794760" cy="2377440"/>
          </a:xfrm>
          <a:prstGeom prst="rect">
            <a:avLst/>
          </a:prstGeom>
          <a:solidFill>
            <a:srgbClr val="1E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749039"/>
            <a:ext cx="3794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13631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👥  跨科協作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43983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</a:rPr>
              <a:t>部長可唯讀查閱全部門進度；科與科之間資料隔離，互不干擾。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3749039"/>
            <a:ext cx="3794760" cy="2377440"/>
          </a:xfrm>
          <a:prstGeom prst="rect">
            <a:avLst/>
          </a:prstGeom>
          <a:solidFill>
            <a:srgbClr val="1E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3749039"/>
            <a:ext cx="3794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3913631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📊  定期進度回報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39" y="4443983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</a:rPr>
              <a:t>主管直接打開平台，各節點狀態一目了然，無需等人彙整報告。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19" y="3749039"/>
            <a:ext cx="3794760" cy="2377440"/>
          </a:xfrm>
          <a:prstGeom prst="rect">
            <a:avLst/>
          </a:prstGeom>
          <a:solidFill>
            <a:srgbClr val="1E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19" y="3749039"/>
            <a:ext cx="3794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9" y="3913631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📁  歷史存查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9" y="4443983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</a:rPr>
              <a:t>專案完成後歸檔，保留完整 WBS 記錄，可隨時匯出 CSV / XLSX 供稽核。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核心價值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9F9"/>
                </a:solidFill>
              </a:rPr>
              <a:t>從分工到交付，每個環節都看得到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743200" cy="475488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2743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3B82F6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80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套系統模板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93008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功能新增 / 專案開發
EOS 下線 / 系統開發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143000"/>
            <a:ext cx="2743200" cy="475488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143000"/>
            <a:ext cx="27432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463040"/>
            <a:ext cx="2743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0EA5E9"/>
                </a:solidFill>
              </a:rPr>
              <a:t>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80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個快速子項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93008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分 8 類，涵蓋所有
標準 IT 工作項目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143000"/>
            <a:ext cx="2743200" cy="475488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143000"/>
            <a:ext cx="27432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463040"/>
            <a:ext cx="2743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22C55E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80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層 WBS 結構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93008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L1 大項 → L2 工作包
→ L3 任務（含備註）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1143000"/>
            <a:ext cx="2743200" cy="475488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1143000"/>
            <a:ext cx="274320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463040"/>
            <a:ext cx="2743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A855F7"/>
                </a:solidFill>
              </a:rPr>
              <a:t>即時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880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同步協作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493008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WebSocket 廣播，
所有人看到同一份資料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WBS 三層結構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9F9"/>
                </a:solidFill>
              </a:rPr>
              <a:t>固定深度，清晰分工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20040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4358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L1  大項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544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SIT / UAT / PROD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148840"/>
            <a:ext cx="32004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20370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L2  工作包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5146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環境建置 / 功能開發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3108960"/>
            <a:ext cx="3200400" cy="685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1408" y="31638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L3  任務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34747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程式開發 / 功能測試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280160"/>
            <a:ext cx="6080760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134416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L1 / L2 欄位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84708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狀態（未開始／進行中／已完成）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35000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負責人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85292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開始日 / 結束日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3566160"/>
            <a:ext cx="6080760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363016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L3 額外欄位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13308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 備註（文字輸入框）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2179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最大深度 3 層，結構簡單易懂；拖曳快速子項即可新增節點，無需手動輸入。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角色與權限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9F9"/>
                </a:solidFill>
              </a:rPr>
              <a:t>四層組織架構，精細存取控制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角色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188720"/>
            <a:ext cx="16916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1887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建立專案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188720"/>
            <a:ext cx="16916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1887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編輯 WBS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188720"/>
            <a:ext cx="16916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1887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管理成員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188720"/>
            <a:ext cx="16916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1887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跨科查閱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664208"/>
            <a:ext cx="2697480" cy="685800"/>
          </a:xfrm>
          <a:prstGeom prst="rect">
            <a:avLst/>
          </a:prstGeom>
          <a:solidFill>
            <a:srgbClr val="1E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64208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DIRECTOR  部長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664208"/>
            <a:ext cx="1691640" cy="685800"/>
          </a:xfrm>
          <a:prstGeom prst="rect">
            <a:avLst/>
          </a:prstGeom>
          <a:solidFill>
            <a:srgbClr val="1E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66420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1664208"/>
            <a:ext cx="1691640" cy="685800"/>
          </a:xfrm>
          <a:prstGeom prst="rect">
            <a:avLst/>
          </a:prstGeom>
          <a:solidFill>
            <a:srgbClr val="1E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66420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BBF24"/>
                </a:solidFill>
              </a:rPr>
              <a:t>限自建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664208"/>
            <a:ext cx="1691640" cy="685800"/>
          </a:xfrm>
          <a:prstGeom prst="rect">
            <a:avLst/>
          </a:prstGeom>
          <a:solidFill>
            <a:srgbClr val="1E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66420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BBF24"/>
                </a:solidFill>
              </a:rPr>
              <a:t>限自建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664208"/>
            <a:ext cx="1691640" cy="685800"/>
          </a:xfrm>
          <a:prstGeom prst="rect">
            <a:avLst/>
          </a:prstGeom>
          <a:solidFill>
            <a:srgbClr val="1E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66420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C55E"/>
                </a:solidFill>
              </a:rPr>
              <a:t>✅ 唯讀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414016"/>
            <a:ext cx="2697480" cy="685800"/>
          </a:xfrm>
          <a:prstGeom prst="rect">
            <a:avLst/>
          </a:prstGeom>
          <a:solidFill>
            <a:srgbClr val="17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414016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SECTION_CHIEF  科長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2414016"/>
            <a:ext cx="1691640" cy="685800"/>
          </a:xfrm>
          <a:prstGeom prst="rect">
            <a:avLst/>
          </a:prstGeom>
          <a:solidFill>
            <a:srgbClr val="17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2414016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2414016"/>
            <a:ext cx="1691640" cy="685800"/>
          </a:xfrm>
          <a:prstGeom prst="rect">
            <a:avLst/>
          </a:prstGeom>
          <a:solidFill>
            <a:srgbClr val="17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414016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C55E"/>
                </a:solidFill>
              </a:rPr>
              <a:t>✅ 本科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414016"/>
            <a:ext cx="1691640" cy="685800"/>
          </a:xfrm>
          <a:prstGeom prst="rect">
            <a:avLst/>
          </a:prstGeom>
          <a:solidFill>
            <a:srgbClr val="17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414016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C55E"/>
                </a:solidFill>
              </a:rPr>
              <a:t>✅ 本科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414016"/>
            <a:ext cx="1691640" cy="685800"/>
          </a:xfrm>
          <a:prstGeom prst="rect">
            <a:avLst/>
          </a:prstGeom>
          <a:solidFill>
            <a:srgbClr val="17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2414016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163824"/>
            <a:ext cx="2697480" cy="685800"/>
          </a:xfrm>
          <a:prstGeom prst="rect">
            <a:avLst/>
          </a:prstGeom>
          <a:solidFill>
            <a:srgbClr val="1E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163824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PROJECT_LEADER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3163824"/>
            <a:ext cx="1691640" cy="685800"/>
          </a:xfrm>
          <a:prstGeom prst="rect">
            <a:avLst/>
          </a:prstGeom>
          <a:solidFill>
            <a:srgbClr val="1E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3163824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0" y="3163824"/>
            <a:ext cx="1691640" cy="685800"/>
          </a:xfrm>
          <a:prstGeom prst="rect">
            <a:avLst/>
          </a:prstGeom>
          <a:solidFill>
            <a:srgbClr val="1E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163824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C55E"/>
                </a:solidFill>
              </a:rPr>
              <a:t>✅ 加入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163824"/>
            <a:ext cx="1691640" cy="685800"/>
          </a:xfrm>
          <a:prstGeom prst="rect">
            <a:avLst/>
          </a:prstGeom>
          <a:solidFill>
            <a:srgbClr val="1E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3163824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C55E"/>
                </a:solidFill>
              </a:rPr>
              <a:t>✅ 自建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3163824"/>
            <a:ext cx="1691640" cy="685800"/>
          </a:xfrm>
          <a:prstGeom prst="rect">
            <a:avLst/>
          </a:prstGeom>
          <a:solidFill>
            <a:srgbClr val="1E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3163824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913632"/>
            <a:ext cx="2697480" cy="685800"/>
          </a:xfrm>
          <a:prstGeom prst="rect">
            <a:avLst/>
          </a:prstGeom>
          <a:solidFill>
            <a:srgbClr val="17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913632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PROJECT_MEMBER  成員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8960" y="3913632"/>
            <a:ext cx="1691640" cy="685800"/>
          </a:xfrm>
          <a:prstGeom prst="rect">
            <a:avLst/>
          </a:prstGeom>
          <a:solidFill>
            <a:srgbClr val="17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391363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46320" y="3913632"/>
            <a:ext cx="1691640" cy="685800"/>
          </a:xfrm>
          <a:prstGeom prst="rect">
            <a:avLst/>
          </a:prstGeom>
          <a:solidFill>
            <a:srgbClr val="17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46320" y="391363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C55E"/>
                </a:solidFill>
              </a:rPr>
              <a:t>✅ 加入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3913632"/>
            <a:ext cx="1691640" cy="685800"/>
          </a:xfrm>
          <a:prstGeom prst="rect">
            <a:avLst/>
          </a:prstGeom>
          <a:solidFill>
            <a:srgbClr val="17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391363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3913632"/>
            <a:ext cx="1691640" cy="685800"/>
          </a:xfrm>
          <a:prstGeom prst="rect">
            <a:avLst/>
          </a:prstGeom>
          <a:solidFill>
            <a:srgbClr val="17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391363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736592"/>
            <a:ext cx="11521440" cy="1572768"/>
          </a:xfrm>
          <a:prstGeom prst="rect">
            <a:avLst/>
          </a:prstGeom>
          <a:solidFill>
            <a:srgbClr val="1E2A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846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</a:rPr>
              <a:t>🔒  部門隔離保護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28523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科長與 Leader 只能看到本科專案；部長可唯讀查閱下屬科所有專案，但不得編輯（自建除外）。
歸檔後的專案對全員強制唯讀，保護已結案資料不被誤改。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模板系統  —  新專案 30 秒建好 WBS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8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256032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系統開發標準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B82F6"/>
                </a:solidFill>
              </a:rPr>
              <a:t>SIT→UAT→PROD
31 個節點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743200"/>
            <a:ext cx="164592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系統模板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743200" cy="256032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188720"/>
            <a:ext cx="274320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功能新增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EA5E9"/>
                </a:solidFill>
              </a:rPr>
              <a:t>SIT→UAT→PROD
33 個節點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743200"/>
            <a:ext cx="1645920" cy="3474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27432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系統模板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2743200" cy="256032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274320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EOS 系統下線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855F7"/>
                </a:solidFill>
              </a:rPr>
              <a:t>SIT→UAT→PROD
37 個節點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2743200"/>
            <a:ext cx="1645920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27432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系統模板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188720"/>
            <a:ext cx="2743200" cy="256032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188720"/>
            <a:ext cx="27432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專案開發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C55E"/>
                </a:solidFill>
              </a:rPr>
              <a:t>SIT→UAT→PROD
56 個節點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2743200"/>
            <a:ext cx="164592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27432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系統模板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77639"/>
            <a:ext cx="115214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16052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科別模板（自訂）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663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•  科長 / Leader 可將現有 WBS「另存為模板」，保留本科最佳實踐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6635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•  本科模板僅本科成員可見，跨科不互見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66927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•  可基於系統模板修改後另存，快速客製化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快速子項  —  拖曳即新增節點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9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88920" cy="160020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88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533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5 個項目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2788920" cy="160020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278892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3533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A5E9"/>
                </a:solidFill>
              </a:rPr>
              <a:t>環境建置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11 個項目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2788920" cy="160020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278892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533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855F7"/>
                </a:solidFill>
              </a:rPr>
              <a:t>開發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7 個項目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188720"/>
            <a:ext cx="2788920" cy="160020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1188720"/>
            <a:ext cx="278892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13533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</a:rPr>
              <a:t>測試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3 個項目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17520"/>
            <a:ext cx="2788920" cy="160020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017520"/>
            <a:ext cx="278892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1821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文件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3657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12 個項目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017520"/>
            <a:ext cx="2788920" cy="160020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3017520"/>
            <a:ext cx="278892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7288" y="31821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</a:rPr>
              <a:t>上線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657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4 個項目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017520"/>
            <a:ext cx="2788920" cy="160020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017520"/>
            <a:ext cx="2788920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31821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4899"/>
                </a:solidFill>
              </a:rPr>
              <a:t>資料作業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657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4 個項目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3017520"/>
            <a:ext cx="2788920" cy="160020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81160" y="3017520"/>
            <a:ext cx="27889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90888" y="31821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</a:rPr>
              <a:t>系統下線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90888" y="3657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2 個項目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07492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•  拖曳至節點 → 新增為子節點（最深 L3）     •  拖曳至空白區 → 新增 L1 根節點
•  科長 / Leader 可管理快速子項清單           •  全域子項（所有人可見）+ 科別子項（本科專屬）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功能驗證 ①  —  登入 / 專案列表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10 / 14</a:t>
            </a:r>
          </a:p>
        </p:txBody>
      </p:sp>
      <p:pic>
        <p:nvPicPr>
          <p:cNvPr id="6" name="Picture 5" descr="ppt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3459215"/>
          </a:xfrm>
          <a:prstGeom prst="rect">
            <a:avLst/>
          </a:prstGeom>
        </p:spPr>
      </p:pic>
      <p:pic>
        <p:nvPicPr>
          <p:cNvPr id="7" name="Picture 6" descr="ppt-project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097280"/>
            <a:ext cx="6400800" cy="44026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897880"/>
            <a:ext cx="201168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8978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 登入成功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5897880"/>
            <a:ext cx="292608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58978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 角色過濾專案列表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功能驗證 ②  —  WBS 編輯器（功能新增模板，33 節點）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11 / 14</a:t>
            </a:r>
          </a:p>
        </p:txBody>
      </p:sp>
      <p:pic>
        <p:nvPicPr>
          <p:cNvPr id="6" name="Picture 5" descr="ppt-wbs-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704320" cy="80505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989320"/>
            <a:ext cx="292608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9893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 SIT/UAT/PROD 三階段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5989320"/>
            <a:ext cx="201168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59893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 L3 備註欄位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5989320"/>
            <a:ext cx="329184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59893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 快速子項面板（48 項）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功能驗證 ③  —  主模板管理 / 快速子項管理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12 / 14</a:t>
            </a:r>
          </a:p>
        </p:txBody>
      </p:sp>
      <p:pic>
        <p:nvPicPr>
          <p:cNvPr id="6" name="Picture 5" descr="ppt-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3962373"/>
          </a:xfrm>
          <a:prstGeom prst="rect">
            <a:avLst/>
          </a:prstGeom>
        </p:spPr>
      </p:pic>
      <p:pic>
        <p:nvPicPr>
          <p:cNvPr id="7" name="Picture 6" descr="ppt-quick-ite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760720" cy="39623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897880"/>
            <a:ext cx="237744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8978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 4 套系統模板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897880"/>
            <a:ext cx="320040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58978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 48 個快速子項（8 類）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技術架構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13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91440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82880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瀏覽器層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99616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Thymeleaf SSR  +  Vue 3 CDN（離線靜態，無建置工具）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11430000" cy="91440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1828800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6883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通訊層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688336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REST API（X-CSRF-TOKEN）  +  SockJS / STOMP（即時廣播）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3832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11430000" cy="91440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1828800" cy="914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770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應用層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877056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Spring Boot 3.4  ·  Spring MVC  ·  Spring WebSocket  ·  Spring Security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57200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46320"/>
            <a:ext cx="11430000" cy="914400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846320"/>
            <a:ext cx="182880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0657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資料層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065776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PostgreSQL 16  ·  Spring Session JDBC（HttpOnly Cookie，無 JWT）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立即開始使用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14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6766560" cy="521208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C55E"/>
                </a:solidFill>
              </a:rPr>
              <a:t># 1. 複製環境設定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cp .env.example .env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C55E"/>
                </a:solidFill>
              </a:rPr>
              <a:t># 2. 啟動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7860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docker compose up -d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C55E"/>
                </a:solidFill>
              </a:rPr>
              <a:t># 3. 編譯並啟動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0156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mvn clean install -DskipTests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mvn spring-boot:run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79392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C55E"/>
                </a:solidFill>
              </a:rPr>
              <a:t># 開啟瀏覽器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http://localhost:8080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88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測試帳號（密碼皆為 test1234）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719072"/>
            <a:ext cx="4389120" cy="804672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7922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</a:rPr>
              <a:t>director@company.com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139696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DIRECTOR 部長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2633472"/>
            <a:ext cx="4389120" cy="804672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7066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EA5E9"/>
                </a:solidFill>
              </a:rPr>
              <a:t>chief@infotech.com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054096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SECTION_CHIEF 科長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3547872"/>
            <a:ext cx="4389120" cy="804672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36210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C55E"/>
                </a:solidFill>
              </a:rPr>
              <a:t>leader@infotech.com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968496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PROJECT_LEADER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4462272"/>
            <a:ext cx="4389120" cy="804672"/>
          </a:xfrm>
          <a:prstGeom prst="rect">
            <a:avLst/>
          </a:prstGeom>
          <a:solidFill>
            <a:srgbClr val="1A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45354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member1@infotech.com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882896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PROJECT_MEMBER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5577840"/>
            <a:ext cx="4389120" cy="7498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5577840"/>
            <a:ext cx="4389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一個平台解決所有 WBS 管理需求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