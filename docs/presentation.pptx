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0"/>
            <a:ext cx="1177747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</a:rPr>
              <a:t>WBS 管理系統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06040"/>
            <a:ext cx="29260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</a:rPr>
              <a:t>從單頁原型，走向企業協作平台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IT 部門 WBS 多人即時協作系統  ·  角色權限  ·  標準模板  ·  WebSocket 即時同步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023360"/>
            <a:ext cx="1559052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15590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Java 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9444" y="4023360"/>
            <a:ext cx="2766060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9444" y="4023360"/>
            <a:ext cx="27660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Spring Boot 3.4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0096" y="4023360"/>
            <a:ext cx="1257300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0096" y="4023360"/>
            <a:ext cx="12573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Vue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1988" y="4023360"/>
            <a:ext cx="1860804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1988" y="4023360"/>
            <a:ext cx="18608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WebSocket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4023360"/>
            <a:ext cx="2464308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7384" y="4023360"/>
            <a:ext cx="24643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PostgreSQL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63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github.com/LinGaOscar/Spring-WbsScaff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一切從一個需求開始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最初只是想解決 IT 部門每次上線前的混亂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18872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🗂  原點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IT 部門每次新專案上線，都要重新整理一份 WBS，
格式不一、版本混亂，找不到人負責哪個項目。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💬  第一步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從一個單頁面工具開始，只是想讓 WBS 可以快速
編排，不再依賴 Excel 手工排版。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80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8056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🚀  演進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隨著使用需求增加，逐步加入即時協作、角色權限、
標準模板，從原型演進為可正式使用的平台。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097280"/>
            <a:ext cx="5577840" cy="5394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-projec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143000"/>
            <a:ext cx="5486400" cy="377368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0" y="63550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↑  專案列表頁面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這些問題，IT 團隊都遇過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每次專案上線前的混亂，不應該一直重演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3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143000"/>
            <a:ext cx="3794760" cy="2103120"/>
          </a:xfrm>
          <a:prstGeom prst="rect">
            <a:avLst/>
          </a:prstGeom>
          <a:solidFill>
            <a:srgbClr val="FEE2E2"/>
          </a:solidFill>
          <a:ln w="9525">
            <a:solidFill>
              <a:srgbClr val="FC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143000"/>
            <a:ext cx="6400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25880"/>
            <a:ext cx="3520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📋  Excel 版本地獄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828800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N 個同事，N 個版本，沒有人知道哪份才是最新的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143000"/>
            <a:ext cx="3794760" cy="2103120"/>
          </a:xfrm>
          <a:prstGeom prst="rect">
            <a:avLst/>
          </a:prstGeom>
          <a:solidFill>
            <a:srgbClr val="FEE2E2"/>
          </a:solidFill>
          <a:ln w="9525">
            <a:solidFill>
              <a:srgbClr val="FC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143000"/>
            <a:ext cx="6400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1325880"/>
            <a:ext cx="3520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🔁  反覆開會確認進度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1828800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主管無法即時掌握狀態，只能靠開會問人，效率極低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1143000"/>
            <a:ext cx="3794760" cy="2103120"/>
          </a:xfrm>
          <a:prstGeom prst="rect">
            <a:avLst/>
          </a:prstGeom>
          <a:solidFill>
            <a:srgbClr val="FEE2E2"/>
          </a:solidFill>
          <a:ln w="9525">
            <a:solidFill>
              <a:srgbClr val="FC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143000"/>
            <a:ext cx="6400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1325880"/>
            <a:ext cx="3520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👤  責任歸屬不清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1828800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任務沒有明確負責人與截止日，事情就這樣掉了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3520440"/>
            <a:ext cx="3794760" cy="2103120"/>
          </a:xfrm>
          <a:prstGeom prst="rect">
            <a:avLst/>
          </a:prstGeom>
          <a:solidFill>
            <a:srgbClr val="FEE2E2"/>
          </a:solidFill>
          <a:ln w="9525">
            <a:solidFill>
              <a:srgbClr val="FC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3520440"/>
            <a:ext cx="6400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703320"/>
            <a:ext cx="3520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📂  文件格式不統一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4206240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SIT / UAT / PROD 各階段文件每次都要重新想格式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5112" y="3520440"/>
            <a:ext cx="3794760" cy="2103120"/>
          </a:xfrm>
          <a:prstGeom prst="rect">
            <a:avLst/>
          </a:prstGeom>
          <a:solidFill>
            <a:srgbClr val="FEE2E2"/>
          </a:solidFill>
          <a:ln w="9525">
            <a:solidFill>
              <a:srgbClr val="FC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3520440"/>
            <a:ext cx="6400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9704" y="3703320"/>
            <a:ext cx="3520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🔒  資料缺乏隔離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9704" y="4206240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共用試算表沒有權限控管，跨科資料外洩風險高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WBS 管理系統  —  三個核心能力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4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097280"/>
            <a:ext cx="3794760" cy="54406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37947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1261872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261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316736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</a:rPr>
              <a:t>標準化模板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20240"/>
            <a:ext cx="347472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029968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4 套系統模板（功能新增、EOS 下線、專案開發、系統開發）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7432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SIT → UAT → PROD 三階段架構預設到位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45643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30 秒建好完整 WBS，不需手工排版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169664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科別可另存自訂模板，保留最佳實踐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1097280"/>
            <a:ext cx="3794760" cy="54406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5112" y="1097280"/>
            <a:ext cx="379476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9704" y="1261872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1261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1316736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</a:rPr>
              <a:t>即時多人協作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9704" y="1920240"/>
            <a:ext cx="347472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9704" y="2029968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WebSocket / STOMP 廣播，所有人看同一份資料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27432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延遲儲存機制，批次送出避免衝突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345643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協作游標顯示誰在哪個節點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4169664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不需重新整理頁面即可看到他人異動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2752" y="1097280"/>
            <a:ext cx="3794760" cy="54406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02752" y="1097280"/>
            <a:ext cx="37947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4" y="1261872"/>
            <a:ext cx="50292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1261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5712" y="1316736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</a:rPr>
              <a:t>精細角色權限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67344" y="1920240"/>
            <a:ext cx="347472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67344" y="2029968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DIRECTOR / SECTION_CHIEF / PROJECT_LEADER / MEMBER 四層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27432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部門隔離：科與科之間資料互不可見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45643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歸檔保護：完成後全員唯讀，不可誤改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169664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·  部長可唯讀查閱所有下屬科進度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實際畫面  —  WBS 編輯器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功能新增模板套用，33 個節點一次到位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5 / 13</a:t>
            </a:r>
          </a:p>
        </p:txBody>
      </p:sp>
      <p:pic>
        <p:nvPicPr>
          <p:cNvPr id="9" name="Picture 8" descr="ppt-wbs-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051560"/>
            <a:ext cx="8503920" cy="584921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74720" y="1051560"/>
            <a:ext cx="8503920" cy="50749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554480"/>
            <a:ext cx="3017520" cy="868680"/>
          </a:xfrm>
          <a:prstGeom prst="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1554480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62763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✅  SIT / UAT / PROD
三階段 L1 結構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834640"/>
            <a:ext cx="3017520" cy="868680"/>
          </a:xfrm>
          <a:prstGeom prst="rect">
            <a:avLst/>
          </a:prstGeom>
          <a:solidFill>
            <a:srgbClr val="F1F5F9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834640"/>
            <a:ext cx="64008" cy="868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90779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✅  L2 工作包
+ L3 任務（含備註）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4114800"/>
            <a:ext cx="3017520" cy="868680"/>
          </a:xfrm>
          <a:prstGeom prst="rect">
            <a:avLst/>
          </a:prstGeom>
          <a:solidFill>
            <a:srgbClr val="F1F5F9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4114800"/>
            <a:ext cx="6400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18795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✅  48 項快速子項
左側拖曳面板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5394960"/>
            <a:ext cx="3017520" cy="868680"/>
          </a:xfrm>
          <a:prstGeom prst="rect">
            <a:avLst/>
          </a:prstGeom>
          <a:solidFill>
            <a:srgbClr val="F1F5F9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5394960"/>
            <a:ext cx="64008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46811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✅  狀態 / 負責人
/ 日期欄位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模板系統與快速子項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標準化工作清單，大幅縮短新專案建置時間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6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5669280" cy="38404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143000"/>
            <a:ext cx="5577840" cy="3836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48006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</a:rPr>
              <a:t>主模板管理（4 套系統模板）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5669280" cy="38404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pt-quick-i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143000"/>
            <a:ext cx="5577840" cy="3836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9360" y="48006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</a:rPr>
              <a:t>快速子項管理（48 項 / 8 類）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5349240"/>
            <a:ext cx="54864" cy="2377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5257800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套用模板 → 30 秒建好完整 WBS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59" y="5349240"/>
            <a:ext cx="54864" cy="2377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5257800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拖曳快速子項 → 新增節點不需手動輸入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5806440"/>
            <a:ext cx="54864" cy="2377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5715000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科別可另存自訂模板，保留最佳實踐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5806440"/>
            <a:ext cx="54864" cy="2377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5" y="5715000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快速子項支援全域 + 科別兩種層級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角色與權限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四層組織架構，部門隔離，精細存取控制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7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10896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143000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角色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75304" y="1143000"/>
            <a:ext cx="182880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11430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建立專案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58968" y="1143000"/>
            <a:ext cx="182880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8968" y="11430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編輯 WBS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42632" y="1143000"/>
            <a:ext cx="182880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2632" y="11430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管理成員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143000"/>
            <a:ext cx="182880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6296" y="11430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跨科查閱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636776"/>
            <a:ext cx="31089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1636776"/>
            <a:ext cx="2999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DIRECTOR  部長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75304" y="16367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16367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58968" y="16367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8696" y="16367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</a:rPr>
              <a:t>限自建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2632" y="16367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6367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</a:rPr>
              <a:t>限自建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26296" y="16367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6024" y="16367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 唯讀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322576"/>
            <a:ext cx="310896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2322576"/>
            <a:ext cx="2999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SECTION_CHIEF  科長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75304" y="23225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85032" y="23225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58968" y="23225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68696" y="23225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 本科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42632" y="23225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23225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 本科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26296" y="23225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36024" y="23225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008376"/>
            <a:ext cx="31089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008376"/>
            <a:ext cx="2999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PROJECT_LEADER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75304" y="30083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85032" y="30083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58968" y="30083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68696" y="30083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 加入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42632" y="30083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52360" y="30083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 自建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26296" y="3008376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36024" y="30083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3694176"/>
            <a:ext cx="310896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3694176"/>
            <a:ext cx="2999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PROJECT_MEMBER  成員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75304" y="36941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85032" y="36941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58968" y="36941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68696" y="36941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✅ 加入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42632" y="36941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52360" y="36941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26296" y="3694176"/>
            <a:ext cx="182880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36024" y="3694176"/>
            <a:ext cx="1719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572000"/>
            <a:ext cx="11430000" cy="1234440"/>
          </a:xfrm>
          <a:prstGeom prst="rect">
            <a:avLst/>
          </a:prstGeom>
          <a:solidFill>
            <a:srgbClr val="DBEAFE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4663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</a:rPr>
              <a:t>🔒  部門隔離保護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" y="5056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</a:rPr>
              <a:t>科長與 Leader 只能看到本科專案；部長可唯讀查閱下屬科，但不得編輯（自建除外）。
歸檔後的專案對全員強制唯讀，系統以 canWriteProject() 作為唯一寫入判斷入口，確保一致性。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與 GitHub 同類系統比較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lgaleazzi/wbs（Spring Boot）  ·  Promess02/GanttApp（Node.js）  vs  本系統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8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115568"/>
            <a:ext cx="31089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1155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2152" y="1115568"/>
            <a:ext cx="2423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1115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lgaleazzi/wbs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71032" y="1115568"/>
            <a:ext cx="2423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71032" y="1115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GanttApp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39912" y="1115568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11556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Spring-WbsScaff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591056"/>
            <a:ext cx="31089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591056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WBS 節點管理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2152" y="1591056"/>
            <a:ext cx="24231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1591056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6A34A"/>
                </a:solidFill>
              </a:rPr>
              <a:t>✅ 任意層樹狀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591056"/>
            <a:ext cx="24231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62472" y="1591056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6A34A"/>
                </a:solidFill>
              </a:rPr>
              <a:t>✅ 含甘特圖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9912" y="1591056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31352" y="1591056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固定 3 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112264"/>
            <a:ext cx="3108960" cy="475488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112264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即時多人協作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2152" y="2112264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93592" y="2112264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71032" y="2112264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62472" y="2112264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39912" y="2112264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31352" y="2112264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WebSocket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2633472"/>
            <a:ext cx="31089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2633472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角色 / 部門權限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02152" y="2633472"/>
            <a:ext cx="2423160" cy="475488"/>
          </a:xfrm>
          <a:prstGeom prst="rect">
            <a:avLst/>
          </a:prstGeom>
          <a:solidFill>
            <a:srgbClr val="FEF3C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2633472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97706"/>
                </a:solidFill>
              </a:rPr>
              <a:t>⚠️  基本登入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71032" y="2633472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62472" y="2633472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9912" y="2633472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31352" y="2633472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4 層 + 隔離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3154680"/>
            <a:ext cx="3108960" cy="475488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3154680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系統模板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02152" y="3154680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93592" y="3154680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71032" y="3154680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54680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39912" y="3154680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31352" y="3154680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4 套 + 自訂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3675887"/>
            <a:ext cx="31089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3675887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快速子項拖曳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02152" y="3675887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93592" y="3675887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71032" y="3675887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62472" y="3675887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39912" y="3675887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31352" y="3675887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48 項 / 8 類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" y="4197096"/>
            <a:ext cx="3108960" cy="475488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4197096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IT 上線標準流程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02152" y="4197096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93592" y="4197096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71032" y="4197096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62472" y="4197096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39912" y="4197096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31352" y="4197096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SIT→UAT→PROD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4718304"/>
            <a:ext cx="31089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4718304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資料庫持久化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02152" y="4718304"/>
            <a:ext cx="2423160" cy="475488"/>
          </a:xfrm>
          <a:prstGeom prst="rect">
            <a:avLst/>
          </a:prstGeom>
          <a:solidFill>
            <a:srgbClr val="FEF3C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93592" y="4718304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97706"/>
                </a:solidFill>
              </a:rPr>
              <a:t>⚠️  H2（重啟清除）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71032" y="4718304"/>
            <a:ext cx="242316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62472" y="4718304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6A34A"/>
                </a:solidFill>
              </a:rPr>
              <a:t>✅ SQLite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39912" y="4718304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31352" y="4718304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PostgreSQL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472" y="5239512"/>
            <a:ext cx="3108960" cy="475488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" y="5239512"/>
            <a:ext cx="29809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歸檔 + 匯出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02152" y="5239512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93592" y="5239512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71032" y="5239512"/>
            <a:ext cx="2423160" cy="475488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62472" y="5239512"/>
            <a:ext cx="22951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2626"/>
                </a:solidFill>
              </a:rPr>
              <a:t>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9912" y="5239512"/>
            <a:ext cx="3840480" cy="475488"/>
          </a:xfrm>
          <a:prstGeom prst="rect">
            <a:avLst/>
          </a:prstGeom>
          <a:solidFill>
            <a:srgbClr val="DCFCE7"/>
          </a:solidFill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31352" y="5239512"/>
            <a:ext cx="3712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✅ CSV / XLSX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47472" y="5943600"/>
            <a:ext cx="11521440" cy="502920"/>
          </a:xfrm>
          <a:prstGeom prst="rect">
            <a:avLst/>
          </a:prstGeom>
          <a:solidFill>
            <a:srgbClr val="DBEAFE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2920" y="596188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563EB"/>
                </a:solidFill>
              </a:rPr>
              <a:t>同樣以 Spring Boot 為基底，Spring-WbsScaff 額外提供即時協作、精細權限與 IT 標準模板，專為企業 IT 部門設計。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功能驗證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登入 / 專案列表 / WBS 編輯器實際截圖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9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4023360" cy="52120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143000"/>
            <a:ext cx="3931920" cy="27044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614476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</a:rPr>
              <a:t>✅  登入頁面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097280"/>
            <a:ext cx="7406640" cy="3291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pt-wbs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143000"/>
            <a:ext cx="7315200" cy="50315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0" y="422452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✅  WBS 編輯器（功能新增模板，33 節點）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4663440"/>
            <a:ext cx="7406640" cy="1691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-project-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4709160"/>
            <a:ext cx="7315200" cy="50315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0" y="6199632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✅  專案列表（依角色過濾可見範圍）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技術架構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10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188720"/>
            <a:ext cx="1152144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188720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173736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瀏覽器層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46304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Thymeleaf SSR  +  Vue 3 CDN（離線靜態，無建置工具）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1945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423160"/>
            <a:ext cx="1152144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423160"/>
            <a:ext cx="64008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97480"/>
            <a:ext cx="173736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通訊層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69748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REST API（X-CSRF-TOKEN）  +  SockJS / STOMP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429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657600"/>
            <a:ext cx="1152144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657600"/>
            <a:ext cx="64008" cy="1005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31920"/>
            <a:ext cx="173736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319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應用層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93192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Spring Boot 3.4  ·  Spring MVC  ·  Spring WebSocket  ·  Spring Security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6634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4892040"/>
            <a:ext cx="1152144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489204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166360"/>
            <a:ext cx="17373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66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資料層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16636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PostgreSQL 16  ·  Spring Session JDBC（HttpOnly Cookie，無 JWT）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從原型走向正式產品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5943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已完成的基礎，以及接下來的方向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11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108960"/>
            <a:ext cx="1152144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84832" y="2999232"/>
            <a:ext cx="365760" cy="2560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1097280"/>
            <a:ext cx="3794760" cy="5394960"/>
          </a:xfrm>
          <a:prstGeom prst="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097280"/>
            <a:ext cx="379476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1234440"/>
            <a:ext cx="1188720" cy="32918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123444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161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</a:rPr>
              <a:t>單頁原型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1691640"/>
            <a:ext cx="1828800" cy="310896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16916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</a:rPr>
              <a:t>已完成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130552"/>
            <a:ext cx="347472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2286000"/>
            <a:ext cx="5486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2267712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WBS 節點編輯（CRUD）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2999232"/>
            <a:ext cx="5486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2980944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單一使用者操作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3712464"/>
            <a:ext cx="5486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94176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基本的樹狀結構呈現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25696"/>
            <a:ext cx="54864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407408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解決 Excel 手工排版痛點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9904" y="2999232"/>
            <a:ext cx="365760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52544" y="1097280"/>
            <a:ext cx="3794760" cy="5394960"/>
          </a:xfrm>
          <a:prstGeom prst="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52544" y="1097280"/>
            <a:ext cx="37947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17136" y="1234440"/>
            <a:ext cx="1188720" cy="32918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123444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Phase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3872" y="12161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</a:rPr>
              <a:t>協作平台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7136" y="1691640"/>
            <a:ext cx="1828800" cy="310896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7136" y="16916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</a:rPr>
              <a:t>現在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7136" y="2130552"/>
            <a:ext cx="347472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17136" y="2286000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72584" y="2267712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多人即時協作（WebSocket）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17136" y="2999232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72584" y="2980944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角色權限 + 部門隔離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3712464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2584" y="3694176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4 套系統模板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17136" y="4425696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2584" y="4407408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48 個快速子項 / 歸檔 / 匯出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94976" y="2999232"/>
            <a:ext cx="365760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57616" y="1097280"/>
            <a:ext cx="3794760" cy="5394960"/>
          </a:xfrm>
          <a:prstGeom prst="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57616" y="1097280"/>
            <a:ext cx="37947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22208" y="1234440"/>
            <a:ext cx="1188720" cy="329184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22208" y="123444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</a:rPr>
              <a:t>Phase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38944" y="12161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</a:rPr>
              <a:t>正式產品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22208" y="1691640"/>
            <a:ext cx="1828800" cy="310896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22208" y="16916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</a:rPr>
              <a:t>未來方向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22208" y="2130552"/>
            <a:ext cx="347472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522208" y="2286000"/>
            <a:ext cx="54864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77656" y="2267712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行動裝置響應式介面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22208" y="2999232"/>
            <a:ext cx="54864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77656" y="2980944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通知系統（Email / Slack）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22208" y="3712464"/>
            <a:ext cx="54864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77656" y="3694176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甘特圖與里程碑視圖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22208" y="4425696"/>
            <a:ext cx="54864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77656" y="4407408"/>
            <a:ext cx="3337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API 開放 + 第三方系統整合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一個平台，解決所有 WBS 管理需求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12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097280"/>
            <a:ext cx="27889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27889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41732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2563EB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8803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</a:rPr>
              <a:t>套系統模板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474720"/>
            <a:ext cx="21945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257860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功能新增、EOS 下線
專案開發、系統開發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9272" y="1097280"/>
            <a:ext cx="27889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097280"/>
            <a:ext cx="278892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141732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16A34A"/>
                </a:solidFill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28803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</a:rPr>
              <a:t>個快速子項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93592" y="3474720"/>
            <a:ext cx="21945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3611880"/>
            <a:ext cx="257860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分 8 類，涵蓋所有
IT 標準工作項目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1072" y="1097280"/>
            <a:ext cx="27889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097280"/>
            <a:ext cx="27889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41732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7C3AED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28803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</a:rPr>
              <a:t>層 WBS 結構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65392" y="3474720"/>
            <a:ext cx="21945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11880"/>
            <a:ext cx="257860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L1 大項 → L2 工作包
→ L3 任務（含備註）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62872" y="1097280"/>
            <a:ext cx="27889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1097280"/>
            <a:ext cx="27889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41732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D97706"/>
                </a:solidFill>
              </a:rPr>
              <a:t>即時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8803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</a:rPr>
              <a:t>多人協作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7192" y="3474720"/>
            <a:ext cx="21945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3611880"/>
            <a:ext cx="257860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WebSocket 廣播
秒級同步，零刷新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09728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立即開始使用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</a:rPr>
              <a:t>13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097280"/>
            <a:ext cx="6766560" cy="5394960"/>
          </a:xfrm>
          <a:prstGeom prst="rect">
            <a:avLst/>
          </a:prstGeom>
          <a:solidFill>
            <a:srgbClr val="0F172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097280"/>
            <a:ext cx="6766560" cy="38404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1155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 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# 複製環境設定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47088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cp .env.example .env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9456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6888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# 啟動 PostgreSQL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9067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36499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# 編譯並啟動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63931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mvn clean install -DskipTests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8678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mvn spring-boot:run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3425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0857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# 開啟瀏覽器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8289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open http://localhost:8080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097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測試帳號  ( 密碼皆為  test1234 )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1645920"/>
            <a:ext cx="4572000" cy="804672"/>
          </a:xfrm>
          <a:prstGeom prst="rect">
            <a:avLst/>
          </a:prstGeom>
          <a:solidFill>
            <a:srgbClr val="F1F5F9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06640" y="1645920"/>
            <a:ext cx="54864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171907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director@company.com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084832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706"/>
                </a:solidFill>
              </a:rPr>
              <a:t>DIRECTOR  部長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2542032"/>
            <a:ext cx="4572000" cy="804672"/>
          </a:xfrm>
          <a:prstGeom prst="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0" y="2542032"/>
            <a:ext cx="54864" cy="8046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261518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chief@infotech.com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980944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563EB"/>
                </a:solidFill>
              </a:rPr>
              <a:t>SECTION_CHIEF  科長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3438144"/>
            <a:ext cx="4572000" cy="804672"/>
          </a:xfrm>
          <a:prstGeom prst="rect">
            <a:avLst/>
          </a:prstGeom>
          <a:solidFill>
            <a:srgbClr val="F1F5F9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06640" y="3438144"/>
            <a:ext cx="54864" cy="8046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3511296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leader@infotech.com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877056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PROJECT_LEADER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334256"/>
            <a:ext cx="4572000" cy="804672"/>
          </a:xfrm>
          <a:prstGeom prst="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06640" y="4334256"/>
            <a:ext cx="54864" cy="80467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440740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member1@infotech.com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773168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PROJECT_MEMBER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5349240"/>
            <a:ext cx="4572000" cy="11430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0" y="546811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</a:rPr>
              <a:t>🚀  從單頁原型出發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587044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</a:rPr>
              <a:t>每一行程式都是為了讓 IT 團隊
不再被 WBS 的雜亂拖慢腳步。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